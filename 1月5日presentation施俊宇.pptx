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1002" r:id="rId2"/>
    <p:sldId id="2038" r:id="rId3"/>
    <p:sldId id="2040" r:id="rId4"/>
    <p:sldId id="2073" r:id="rId5"/>
    <p:sldId id="2048" r:id="rId6"/>
    <p:sldId id="2063" r:id="rId7"/>
    <p:sldId id="2064" r:id="rId8"/>
    <p:sldId id="2072" r:id="rId9"/>
    <p:sldId id="2074" r:id="rId10"/>
    <p:sldId id="2065" r:id="rId11"/>
    <p:sldId id="2066" r:id="rId12"/>
    <p:sldId id="2067" r:id="rId13"/>
    <p:sldId id="2068" r:id="rId14"/>
    <p:sldId id="2069" r:id="rId15"/>
    <p:sldId id="2070" r:id="rId16"/>
    <p:sldId id="2071" r:id="rId17"/>
    <p:sldId id="2039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9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kb1.com" initials="" lastIdx="0" clrIdx="0"/>
  <p:cmAuthor id="1" name="Administrator" initials="A" lastIdx="1" clrIdx="0"/>
  <p:cmAuthor id="2" name="作者" initials="A" lastIdx="0" clrIdx="1"/>
  <p:cmAuthor id="3" name="12032" initials="1" lastIdx="1" clrIdx="2"/>
  <p:cmAuthor id="4" name="林细尘" initials="林" lastIdx="1" clrIdx="3"/>
  <p:cmAuthor id="5" name="宋洁然" initials="宋" lastIdx="0" clrIdx="1"/>
  <p:cmAuthor id="6" name="ming qiu" initials="m" lastIdx="0" clrIdx="1"/>
  <p:cmAuthor id="7" name="1206988966@qq.com" initials="1" lastIdx="0" clrIdx="2"/>
  <p:cmAuthor id="8" name="姜伟光" initials="姜" lastIdx="0" clrIdx="0"/>
  <p:cmAuthor id="9" name="PPTer_Tang" initials="P" lastIdx="1" clrIdx="0"/>
  <p:cmAuthor id="10" name="马琳" initials="马" lastIdx="1" clrIdx="9"/>
  <p:cmAuthor id="11" name="xiaoxuan Zeng" initials="x" lastIdx="0" clrIdx="0"/>
  <p:cmAuthor id="12" name="ycadmin" initials="y" lastIdx="1" clrIdx="11"/>
  <p:cmAuthor id="13" name="lddn" initials="l" lastIdx="1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FF"/>
    <a:srgbClr val="800080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37" y="57"/>
      </p:cViewPr>
      <p:guideLst>
        <p:guide orient="horz" pos="2172"/>
        <p:guide pos="398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 anchor="ctr" anchorCtr="0"/>
          <a:lstStyle>
            <a:defPPr>
              <a:defRPr lang="zh-CN"/>
            </a:defPPr>
            <a:lvl1pPr marL="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5pPr>
          </a:lstStyle>
          <a:p>
            <a:pPr lvl="0" eaLnBrk="0" fontAlgn="base" hangingPunct="0">
              <a:buClrTx/>
            </a:pPr>
            <a:endParaRPr lang="zh-CN" altLang="en-US" sz="1200" strike="noStrike" noProof="1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1509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 anchor="ctr" anchorCtr="0"/>
          <a:lstStyle>
            <a:defPPr>
              <a:defRPr lang="zh-CN"/>
            </a:defPPr>
            <a:lvl1pPr marL="0" indent="0" algn="ct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5pPr>
          </a:lstStyle>
          <a:p>
            <a:pPr lvl="0" algn="ctr" eaLnBrk="0" fontAlgn="base" hangingPunct="0">
              <a:buClrTx/>
            </a:pPr>
            <a:endParaRPr lang="zh-CN" altLang="en-US" sz="1200" strike="noStrike" noProof="1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numCol="1" anchor="ctr" anchorCtr="0" compatLnSpc="1"/>
          <a:lstStyle>
            <a:defPPr>
              <a:defRPr lang="zh-CN"/>
            </a:defPPr>
            <a:lvl1pPr marL="0" indent="0" algn="r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200" b="0" i="0" u="none" baseline="0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4572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2pPr>
            <a:lvl3pPr marL="9144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3pPr>
            <a:lvl4pPr marL="13716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4pPr>
            <a:lvl5pPr marL="1828800" indent="0" algn="l" defTabSz="91440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1800" b="0" i="0" u="none" baseline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</a:defRPr>
            </a:lvl5pPr>
          </a:lstStyle>
          <a:p>
            <a:pPr lvl="0" algn="r" fontAlgn="base">
              <a:buClrTx/>
            </a:pPr>
            <a:fld id="{90B5EF82-EC85-43DF-A855-5F9C9BAD3BDF}" type="slidenum">
              <a:rPr lang="zh-CN" altLang="en-US" sz="1200" strike="noStrike" noProof="1">
                <a:solidFill>
                  <a:srgbClr val="898989"/>
                </a:solidFill>
                <a:latin typeface="Calibri" panose="020F050202020403020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solidFill>
                <a:srgbClr val="898989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9165" y="2365547"/>
            <a:ext cx="102228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3200" b="1" dirty="0"/>
              <a:t>社会网络中的流量波动和舆论形成：</a:t>
            </a:r>
            <a:endParaRPr lang="zh-CN" altLang="zh-CN" sz="3200" dirty="0"/>
          </a:p>
          <a:p>
            <a:pPr algn="ctr"/>
            <a:r>
              <a:rPr lang="zh-CN" altLang="zh-CN" sz="3200" b="1" dirty="0"/>
              <a:t>推特数据背后的流量密码和社会现象挖掘</a:t>
            </a:r>
            <a:endParaRPr lang="zh-CN" altLang="zh-CN" sz="3200" dirty="0"/>
          </a:p>
          <a:p>
            <a:pPr algn="ctr"/>
            <a:endParaRPr lang="zh-CN" altLang="en-US" sz="3600" spc="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39595" y="3489815"/>
            <a:ext cx="9217025" cy="1143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/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5305250" y="3698630"/>
            <a:ext cx="1800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</a:t>
            </a:r>
            <a:r>
              <a:rPr lang="zh-CN" altLang="en-US" dirty="0"/>
              <a:t>施俊宇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/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14" name="内容占位符 2"/>
          <p:cNvSpPr txBox="1">
            <a:spLocks/>
          </p:cNvSpPr>
          <p:nvPr/>
        </p:nvSpPr>
        <p:spPr>
          <a:xfrm>
            <a:off x="460687" y="1561128"/>
            <a:ext cx="11476587" cy="6552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</a:t>
            </a:r>
            <a:r>
              <a:rPr lang="zh-CN" altLang="en-US" sz="3300" b="1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、研究思路</a:t>
            </a:r>
            <a:endParaRPr lang="en-US" altLang="zh-CN" sz="3300" b="1" dirty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3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300" b="1" dirty="0">
                <a:solidFill>
                  <a:sysClr val="windowText" lastClr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二、研究方法</a:t>
            </a:r>
            <a:endParaRPr lang="en-US" altLang="zh-CN" sz="3300" b="1" dirty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3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3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三、研究结果</a:t>
            </a:r>
            <a:endParaRPr lang="en-US" altLang="zh-CN" sz="3300" b="1" dirty="0">
              <a:solidFill>
                <a:sysClr val="windowText" lastClr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8487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773812" y="4585838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/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一、研究思路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B2ACEE-F807-E3CC-B864-F1C747A26CF5}"/>
              </a:ext>
            </a:extLst>
          </p:cNvPr>
          <p:cNvSpPr txBox="1"/>
          <p:nvPr/>
        </p:nvSpPr>
        <p:spPr>
          <a:xfrm>
            <a:off x="680720" y="1590040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为什么选这个题（社会网络中的流量波动和舆论形成）？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34CCDE-5924-9AB6-0E68-747D5A19EB0A}"/>
              </a:ext>
            </a:extLst>
          </p:cNvPr>
          <p:cNvSpPr txBox="1"/>
          <p:nvPr/>
        </p:nvSpPr>
        <p:spPr>
          <a:xfrm>
            <a:off x="539247" y="3914683"/>
            <a:ext cx="7838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具体是怎么做的？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37574D-FB0F-51C5-77DC-4182446B3A87}"/>
              </a:ext>
            </a:extLst>
          </p:cNvPr>
          <p:cNvSpPr txBox="1"/>
          <p:nvPr/>
        </p:nvSpPr>
        <p:spPr>
          <a:xfrm>
            <a:off x="1423167" y="2178659"/>
            <a:ext cx="100432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想结合自己的专业进行分析，发挥学科交叉的优势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灵感来自数据集中数据之间的相互联系（联系观、发展观）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以及国内社交媒体平台的多样流量传播方式（什么样的内容能获取更多流量）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2E707D-6A20-DA1E-6C4D-B93995DBB1BE}"/>
              </a:ext>
            </a:extLst>
          </p:cNvPr>
          <p:cNvSpPr txBox="1"/>
          <p:nvPr/>
        </p:nvSpPr>
        <p:spPr>
          <a:xfrm>
            <a:off x="1423167" y="5072327"/>
            <a:ext cx="808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数据清洗，保留与流量相关的关键指标（收藏量、推文内容、回复与被回复等）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43C1A0-25AB-EEE7-1CF7-F58D50F33C8A}"/>
              </a:ext>
            </a:extLst>
          </p:cNvPr>
          <p:cNvSpPr txBox="1"/>
          <p:nvPr/>
        </p:nvSpPr>
        <p:spPr>
          <a:xfrm>
            <a:off x="1423167" y="4428993"/>
            <a:ext cx="621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</a:t>
            </a:r>
            <a:r>
              <a:rPr lang="en-US" altLang="zh-CN" dirty="0"/>
              <a:t>JSON</a:t>
            </a:r>
            <a:r>
              <a:rPr lang="zh-CN" altLang="en-US" dirty="0"/>
              <a:t>文件转为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6109E9-66AA-9800-FAD9-E478FB7F121E}"/>
              </a:ext>
            </a:extLst>
          </p:cNvPr>
          <p:cNvSpPr txBox="1"/>
          <p:nvPr/>
        </p:nvSpPr>
        <p:spPr>
          <a:xfrm>
            <a:off x="1387607" y="5730901"/>
            <a:ext cx="595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分析这些指标在流量波动中的作用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F03CD9-9010-00CF-4099-287322E90BFF}"/>
              </a:ext>
            </a:extLst>
          </p:cNvPr>
          <p:cNvSpPr txBox="1"/>
          <p:nvPr/>
        </p:nvSpPr>
        <p:spPr>
          <a:xfrm>
            <a:off x="1392052" y="6415273"/>
            <a:ext cx="499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构建流量波动模型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A431F79-185D-14C0-15E4-E5B608F7C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666" y="403834"/>
            <a:ext cx="2622324" cy="23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4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" grpId="0"/>
      <p:bldP spid="5" grpId="0"/>
      <p:bldP spid="8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03788-E2D0-A121-5AE3-67F36216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92E8BA8-4649-9ABA-9D3C-897AE57D3D2E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FA7EE11-0323-B38C-ECBD-CCEAFF8C4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03E9C5B-D344-C885-6323-D7D8F7717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5F10F3E-1B89-256A-28AE-0018B0B9054F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一、研究思路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725B8F-FEFB-03C5-190C-EE6787D462C1}"/>
              </a:ext>
            </a:extLst>
          </p:cNvPr>
          <p:cNvSpPr txBox="1"/>
          <p:nvPr/>
        </p:nvSpPr>
        <p:spPr>
          <a:xfrm>
            <a:off x="634712" y="1763660"/>
            <a:ext cx="9946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流量，本是指现实世界中规定时间内通过指定点的车辆或行人数量，后发展为网络信息领域名词，指网站访问量或移动数据消耗量，可以用用户数、页面浏览量等指标衡量。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98948D-2E8B-2CF9-44F3-73099C3979F9}"/>
              </a:ext>
            </a:extLst>
          </p:cNvPr>
          <p:cNvSpPr txBox="1"/>
          <p:nvPr/>
        </p:nvSpPr>
        <p:spPr>
          <a:xfrm>
            <a:off x="1364075" y="2787585"/>
            <a:ext cx="10043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本质上是人群</a:t>
            </a:r>
            <a:r>
              <a:rPr lang="zh-CN" altLang="en-US" dirty="0"/>
              <a:t>注意力、意见和情绪流的汇聚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网络流量承载一定舆论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EEE92E-BCD7-C19E-C9EE-367AD4DEAE71}"/>
              </a:ext>
            </a:extLst>
          </p:cNvPr>
          <p:cNvSpPr txBox="1"/>
          <p:nvPr/>
        </p:nvSpPr>
        <p:spPr>
          <a:xfrm>
            <a:off x="634712" y="4213621"/>
            <a:ext cx="5952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网络与社会存在双重关系：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8E7F2E-06FA-95CF-6CAE-9FB4017EC7C0}"/>
              </a:ext>
            </a:extLst>
          </p:cNvPr>
          <p:cNvSpPr txBox="1"/>
          <p:nvPr/>
        </p:nvSpPr>
        <p:spPr>
          <a:xfrm>
            <a:off x="1364075" y="4847667"/>
            <a:ext cx="5848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社会上发生的事件可以映射到网络上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网络上的数据分析也可以挖掘出其背后的社会真相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07635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C46D1-1546-D9D4-6598-5808D0DE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A43252A6-52F0-F53F-E1CF-DF08C735F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34EC002-6CD4-8F64-3140-B3D4F7498661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E1534CB-D970-7C8D-0A6C-979F51315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9E5FA7DF-F4D1-3E58-CA74-A5FFFBE2B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A47BDFC-8CD5-A845-8C7E-D6EF09958948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二、研究方法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7905A4-9C9B-8046-BCA2-AA23DD681CD8}"/>
              </a:ext>
            </a:extLst>
          </p:cNvPr>
          <p:cNvSpPr txBox="1"/>
          <p:nvPr/>
        </p:nvSpPr>
        <p:spPr>
          <a:xfrm>
            <a:off x="1894840" y="1737326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、</a:t>
            </a:r>
            <a:r>
              <a:rPr lang="en-US" altLang="zh-CN" dirty="0"/>
              <a:t>pandas	    </a:t>
            </a:r>
            <a:r>
              <a:rPr lang="en-US" altLang="zh-CN" dirty="0">
                <a:sym typeface="Wingdings" panose="05000000000000000000" pitchFamily="2" charset="2"/>
              </a:rPr>
              <a:t>	</a:t>
            </a:r>
            <a:r>
              <a:rPr lang="zh-CN" altLang="en-US" dirty="0">
                <a:sym typeface="Wingdings" panose="05000000000000000000" pitchFamily="2" charset="2"/>
              </a:rPr>
              <a:t>数据转换和清洗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19F602-9C38-5AF3-E7B7-4461E5C93803}"/>
              </a:ext>
            </a:extLst>
          </p:cNvPr>
          <p:cNvSpPr txBox="1"/>
          <p:nvPr/>
        </p:nvSpPr>
        <p:spPr>
          <a:xfrm>
            <a:off x="1894840" y="2784259"/>
            <a:ext cx="692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Pandas</a:t>
            </a:r>
            <a:r>
              <a:rPr lang="zh-CN" altLang="en-US" dirty="0"/>
              <a:t>、</a:t>
            </a:r>
            <a:r>
              <a:rPr lang="en-US" altLang="zh-CN" dirty="0"/>
              <a:t>matplotlib</a:t>
            </a:r>
            <a:r>
              <a:rPr lang="zh-CN" altLang="en-US" dirty="0"/>
              <a:t>、</a:t>
            </a:r>
            <a:r>
              <a:rPr lang="en-US" altLang="zh-CN" dirty="0"/>
              <a:t>seaborn   </a:t>
            </a:r>
            <a:r>
              <a:rPr lang="en-US" altLang="zh-CN" dirty="0">
                <a:sym typeface="Wingdings" panose="05000000000000000000" pitchFamily="2" charset="2"/>
              </a:rPr>
              <a:t>	</a:t>
            </a:r>
            <a:r>
              <a:rPr lang="zh-CN" altLang="en-US" dirty="0">
                <a:sym typeface="Wingdings" panose="05000000000000000000" pitchFamily="2" charset="2"/>
              </a:rPr>
              <a:t>计算数据指标、绘图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34B151-0266-14FE-5D1C-E9818DF1CD46}"/>
              </a:ext>
            </a:extLst>
          </p:cNvPr>
          <p:cNvSpPr txBox="1"/>
          <p:nvPr/>
        </p:nvSpPr>
        <p:spPr>
          <a:xfrm>
            <a:off x="1972917" y="3752022"/>
            <a:ext cx="5585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</a:t>
            </a:r>
            <a:r>
              <a:rPr lang="zh-CN" altLang="en-US" dirty="0"/>
              <a:t>、</a:t>
            </a:r>
            <a:r>
              <a:rPr lang="en-US" altLang="zh-CN" dirty="0" err="1"/>
              <a:t>nltk</a:t>
            </a:r>
            <a:r>
              <a:rPr lang="en-US" altLang="zh-CN" dirty="0"/>
              <a:t>	    </a:t>
            </a:r>
            <a:r>
              <a:rPr lang="en-US" altLang="zh-CN" dirty="0">
                <a:sym typeface="Wingdings" panose="05000000000000000000" pitchFamily="2" charset="2"/>
              </a:rPr>
              <a:t>	</a:t>
            </a:r>
            <a:r>
              <a:rPr lang="zh-CN" altLang="en-US" dirty="0">
                <a:sym typeface="Wingdings" panose="05000000000000000000" pitchFamily="2" charset="2"/>
              </a:rPr>
              <a:t>推文语言处理、情感分析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40630B-3F46-B3C8-CB56-CDB31193DC62}"/>
              </a:ext>
            </a:extLst>
          </p:cNvPr>
          <p:cNvSpPr txBox="1"/>
          <p:nvPr/>
        </p:nvSpPr>
        <p:spPr>
          <a:xfrm>
            <a:off x="2052430" y="4765813"/>
            <a:ext cx="4825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Requests     </a:t>
            </a:r>
            <a:r>
              <a:rPr lang="en-US" altLang="zh-CN" dirty="0">
                <a:sym typeface="Wingdings" panose="05000000000000000000" pitchFamily="2" charset="2"/>
              </a:rPr>
              <a:t>	</a:t>
            </a:r>
            <a:r>
              <a:rPr lang="zh-CN" altLang="en-US" dirty="0">
                <a:sym typeface="Wingdings" panose="05000000000000000000" pitchFamily="2" charset="2"/>
              </a:rPr>
              <a:t>爬虫、</a:t>
            </a:r>
            <a:r>
              <a:rPr lang="zh-CN" altLang="en-US" dirty="0"/>
              <a:t>重大事件分析</a:t>
            </a:r>
          </a:p>
        </p:txBody>
      </p:sp>
    </p:spTree>
    <p:extLst>
      <p:ext uri="{BB962C8B-B14F-4D97-AF65-F5344CB8AC3E}">
        <p14:creationId xmlns:p14="http://schemas.microsoft.com/office/powerpoint/2010/main" val="21922596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A6C46-7BC2-AC01-50E2-1FD6FC13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C4B07959-D554-33C6-9A82-7648721A8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2A7BF6-5626-4D54-B053-A54D614740D7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EDC88C7-BA11-9309-9D8D-AAD97EF5B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04C4B398-009F-2741-9CB6-C42B445E2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5DAA1D5-B4E2-68A4-0359-933B72843E84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二、研究方法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F8009C-C141-094B-2CA6-AA4816BDD523}"/>
              </a:ext>
            </a:extLst>
          </p:cNvPr>
          <p:cNvSpPr txBox="1"/>
          <p:nvPr/>
        </p:nvSpPr>
        <p:spPr>
          <a:xfrm>
            <a:off x="1894840" y="1737326"/>
            <a:ext cx="9946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和流量相关的基础指标：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发帖时间、发帖地点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收藏量、粉丝量、发帖总量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B2A10C-FEF6-AD96-9B76-DB9DB942FCFA}"/>
              </a:ext>
            </a:extLst>
          </p:cNvPr>
          <p:cNvSpPr txBox="1"/>
          <p:nvPr/>
        </p:nvSpPr>
        <p:spPr>
          <a:xfrm>
            <a:off x="1894840" y="3738860"/>
            <a:ext cx="55857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和流量相关的高阶指标：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文本内容的情绪指数（流量和舆论重要指标）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与重大事件关联程度（社会现象挖掘）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与社群某一话题关联程度（社群回复网络）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79755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9AFCB-8024-6E39-D1FF-C884DCBE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470D37F7-7F93-316B-5006-BC6CBC931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A689CF3-0692-6F70-E7B8-1EC6388AF992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2243FE6-19BA-8796-332D-BEDE30C92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CD27D90-7B34-6031-92CA-5AA2D1F56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4CC5AE1-AAF3-4797-3B14-D6F10D5871EC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6C4607-D3DC-A3CB-0E2C-712E631134B1}"/>
              </a:ext>
            </a:extLst>
          </p:cNvPr>
          <p:cNvSpPr txBox="1"/>
          <p:nvPr/>
        </p:nvSpPr>
        <p:spPr>
          <a:xfrm>
            <a:off x="1258736" y="1488848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发帖时间（流量波动按时间变化，符合大众认知）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63DF63-6A36-CD89-92EA-FDBEB54CF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818" y="2088755"/>
            <a:ext cx="7155213" cy="356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74218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6DEB7-398F-44AD-EA53-F0C0448D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0136D188-D008-7ACD-E38D-B84D0FD0D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CEB227B-CD13-AEFE-23DC-F6615BFD57D8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2AC427C-F4D8-6109-27B6-CDC2EA523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A7A4054-F0CB-A1FE-8E8B-63182330E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4FFFC22-4A8F-2A57-6030-EA7C5B1BB3AA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843319-CBAA-FCA7-88B7-DBD89F99FC71}"/>
              </a:ext>
            </a:extLst>
          </p:cNvPr>
          <p:cNvSpPr txBox="1"/>
          <p:nvPr/>
        </p:nvSpPr>
        <p:spPr>
          <a:xfrm>
            <a:off x="1258736" y="1488848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推文长度（短平快流行，但想要获得流量仍然需要保持一定信息密度和长度）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242F0-E9C0-A94F-12E9-603FD005D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31" r="49348"/>
          <a:stretch>
            <a:fillRect/>
          </a:stretch>
        </p:blipFill>
        <p:spPr bwMode="auto">
          <a:xfrm>
            <a:off x="1242222" y="2208110"/>
            <a:ext cx="7243608" cy="39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383368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5FC1A-84F4-4221-7B07-B948BF4D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B549576D-C0D5-C305-46D8-87A233378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D75FE25-5AFF-8C12-B5CF-F46A8CF09CB0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1EBD370B-3D08-1F9E-45D2-F07948BC5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8895961-2589-C690-F5EB-93719E67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B3E9871-45DE-4384-98C3-533F5D35F673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60B216-51BF-E95E-B7D1-0F14A2081DA3}"/>
              </a:ext>
            </a:extLst>
          </p:cNvPr>
          <p:cNvSpPr txBox="1"/>
          <p:nvPr/>
        </p:nvSpPr>
        <p:spPr>
          <a:xfrm>
            <a:off x="1258736" y="1488848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情绪指数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6BA3936-4CEE-32F2-FC60-B24C4425E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05" t="49568"/>
          <a:stretch>
            <a:fillRect/>
          </a:stretch>
        </p:blipFill>
        <p:spPr bwMode="auto">
          <a:xfrm>
            <a:off x="2613908" y="2231021"/>
            <a:ext cx="5107826" cy="293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B55E2AD-AA1A-D923-0B51-52F278CCA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19" y="2657787"/>
            <a:ext cx="4550814" cy="3586927"/>
          </a:xfrm>
          <a:prstGeom prst="rect">
            <a:avLst/>
          </a:prstGeom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D78FCB02-E014-6595-DC73-592219A20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73"/>
          <a:stretch>
            <a:fillRect/>
          </a:stretch>
        </p:blipFill>
        <p:spPr bwMode="auto">
          <a:xfrm>
            <a:off x="5580741" y="2710874"/>
            <a:ext cx="4281986" cy="3398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6F3766-50C2-322C-85A3-66DF2968E979}"/>
              </a:ext>
            </a:extLst>
          </p:cNvPr>
          <p:cNvSpPr txBox="1"/>
          <p:nvPr/>
        </p:nvSpPr>
        <p:spPr>
          <a:xfrm>
            <a:off x="4347713" y="863916"/>
            <a:ext cx="70736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相对适中而非极端的情绪更能获得认同（可能是受众面更广）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（可能受到大量相对客观媒体报道或与重大事件无关的帖子的影响）</a:t>
            </a:r>
          </a:p>
        </p:txBody>
      </p:sp>
    </p:spTree>
    <p:extLst>
      <p:ext uri="{BB962C8B-B14F-4D97-AF65-F5344CB8AC3E}">
        <p14:creationId xmlns:p14="http://schemas.microsoft.com/office/powerpoint/2010/main" val="38479118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CA82C-9CB2-E723-D0EF-B6E099BD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1AFBE9D3-AAF4-49B7-838D-A79590236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8C8CAC-D585-5B83-B1EB-1825F128B896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53B69CAB-9A1B-1C5C-F54B-0ED6188B2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BB06D13-F558-6756-69A8-A492AD2F7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2957CA8-EBF8-ECB7-C31F-67AAA88FED9D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A9B70F-B36D-B93F-B769-C3EB40AB8324}"/>
              </a:ext>
            </a:extLst>
          </p:cNvPr>
          <p:cNvSpPr txBox="1"/>
          <p:nvPr/>
        </p:nvSpPr>
        <p:spPr>
          <a:xfrm>
            <a:off x="1258736" y="1488848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流量中的高频词（词云图）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E5C67C-0B23-1059-6032-0690439A8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924" y="2702822"/>
            <a:ext cx="6300788" cy="245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文本, 白板&#10;&#10;AI 生成的内容可能不正确。">
            <a:extLst>
              <a:ext uri="{FF2B5EF4-FFF2-40B4-BE49-F238E27FC236}">
                <a16:creationId xmlns:a16="http://schemas.microsoft.com/office/drawing/2014/main" id="{3763E919-F693-8193-FED5-4FFEC5212A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70" y="1820154"/>
            <a:ext cx="8908246" cy="49702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BEBE552-9502-26F3-4760-B9C782BE560C}"/>
              </a:ext>
            </a:extLst>
          </p:cNvPr>
          <p:cNvSpPr txBox="1"/>
          <p:nvPr/>
        </p:nvSpPr>
        <p:spPr>
          <a:xfrm>
            <a:off x="9125187" y="2085908"/>
            <a:ext cx="23939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影响因素：</a:t>
            </a:r>
            <a:endParaRPr lang="en-US" altLang="zh-CN" dirty="0"/>
          </a:p>
          <a:p>
            <a:br>
              <a:rPr lang="en-US" altLang="zh-CN" dirty="0"/>
            </a:br>
            <a:r>
              <a:rPr lang="zh-CN" altLang="en-US" dirty="0"/>
              <a:t>西方语言习惯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当地重大事件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推文情绪指向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3DA540-AF48-F07D-D82B-E6CB2AF1EEF8}"/>
              </a:ext>
            </a:extLst>
          </p:cNvPr>
          <p:cNvSpPr txBox="1"/>
          <p:nvPr/>
        </p:nvSpPr>
        <p:spPr>
          <a:xfrm>
            <a:off x="1328468" y="2362906"/>
            <a:ext cx="26684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副词（非常、无论如何）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负向情绪词（墓穴）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脏话（表示惊讶或愤怒）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690F3F-316A-AFEB-514A-850F01C02CAE}"/>
              </a:ext>
            </a:extLst>
          </p:cNvPr>
          <p:cNvSpPr txBox="1"/>
          <p:nvPr/>
        </p:nvSpPr>
        <p:spPr>
          <a:xfrm>
            <a:off x="5746352" y="4770308"/>
            <a:ext cx="23693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政治精英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民意调查</a:t>
            </a:r>
            <a:br>
              <a:rPr lang="en-US" altLang="zh-CN" b="1" dirty="0">
                <a:solidFill>
                  <a:srgbClr val="FF0000"/>
                </a:solidFill>
              </a:rPr>
            </a:b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b="1" dirty="0">
                <a:solidFill>
                  <a:srgbClr val="FF0000"/>
                </a:solidFill>
              </a:rPr>
              <a:t>情绪偏向中立和保守</a:t>
            </a:r>
          </a:p>
        </p:txBody>
      </p:sp>
    </p:spTree>
    <p:extLst>
      <p:ext uri="{BB962C8B-B14F-4D97-AF65-F5344CB8AC3E}">
        <p14:creationId xmlns:p14="http://schemas.microsoft.com/office/powerpoint/2010/main" val="7059252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08BD7-378B-F50A-8E66-594591BC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19566843-8488-0983-9A5D-F0D1C3985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C61C527-EEEE-8C04-1AEA-8AA7C6747F32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9B41AAC-5D7C-20FF-55A1-54A6D1A51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1B4842F5-8DED-7233-D941-7F9967817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3EADB97-0B19-615C-9D96-7AA7915A3A97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97E49C-8C68-F3E7-A677-F58C8B2CB928}"/>
              </a:ext>
            </a:extLst>
          </p:cNvPr>
          <p:cNvSpPr txBox="1"/>
          <p:nvPr/>
        </p:nvSpPr>
        <p:spPr>
          <a:xfrm>
            <a:off x="1122680" y="1694913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社会现象挖掘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2E26F1-098F-1281-DF98-EDD61A371E5B}"/>
              </a:ext>
            </a:extLst>
          </p:cNvPr>
          <p:cNvSpPr txBox="1"/>
          <p:nvPr/>
        </p:nvSpPr>
        <p:spPr>
          <a:xfrm>
            <a:off x="1441173" y="2261152"/>
            <a:ext cx="87911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这份推特数据集</a:t>
            </a:r>
            <a:r>
              <a:rPr lang="zh-CN" altLang="en-US" dirty="0"/>
              <a:t>中，不是所有推文都关联了重大事件</a:t>
            </a:r>
            <a:endParaRPr lang="en-US" altLang="zh-CN" dirty="0"/>
          </a:p>
          <a:p>
            <a:r>
              <a:rPr lang="zh-CN" altLang="en-US" dirty="0"/>
              <a:t>而与重大事件相关的</a:t>
            </a:r>
            <a:r>
              <a:rPr lang="zh-CN" altLang="zh-CN" dirty="0"/>
              <a:t>推文内容主要包含了：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巴黎恐怖袭击事件</a:t>
            </a:r>
            <a:r>
              <a:rPr lang="en-US" altLang="zh-CN" dirty="0"/>
              <a:t>: 2339470 </a:t>
            </a:r>
            <a:r>
              <a:rPr lang="zh-CN" altLang="zh-CN" dirty="0"/>
              <a:t>条</a:t>
            </a:r>
            <a:r>
              <a:rPr lang="en-US" altLang="zh-CN" dirty="0"/>
              <a:t> (98.67%)</a:t>
            </a:r>
          </a:p>
          <a:p>
            <a:endParaRPr lang="zh-CN" altLang="zh-CN" dirty="0"/>
          </a:p>
          <a:p>
            <a:r>
              <a:rPr lang="zh-CN" altLang="zh-CN" dirty="0"/>
              <a:t>法国地区选举</a:t>
            </a:r>
            <a:r>
              <a:rPr lang="en-US" altLang="zh-CN" dirty="0"/>
              <a:t>: 16658 </a:t>
            </a:r>
            <a:r>
              <a:rPr lang="zh-CN" altLang="zh-CN" dirty="0"/>
              <a:t>条</a:t>
            </a:r>
            <a:r>
              <a:rPr lang="en-US" altLang="zh-CN" dirty="0"/>
              <a:t> (0.70%)</a:t>
            </a:r>
          </a:p>
          <a:p>
            <a:endParaRPr lang="zh-CN" altLang="zh-CN" dirty="0"/>
          </a:p>
          <a:p>
            <a:r>
              <a:rPr lang="zh-CN" altLang="zh-CN" dirty="0"/>
              <a:t>法国足球赛事</a:t>
            </a:r>
            <a:r>
              <a:rPr lang="en-US" altLang="zh-CN" dirty="0"/>
              <a:t>: 7851 </a:t>
            </a:r>
            <a:r>
              <a:rPr lang="zh-CN" altLang="zh-CN" dirty="0"/>
              <a:t>条</a:t>
            </a:r>
            <a:r>
              <a:rPr lang="en-US" altLang="zh-CN" dirty="0"/>
              <a:t> (0.33%)</a:t>
            </a:r>
          </a:p>
          <a:p>
            <a:endParaRPr lang="zh-CN" altLang="zh-CN" dirty="0"/>
          </a:p>
          <a:p>
            <a:r>
              <a:rPr lang="en-US" altLang="zh-CN" dirty="0"/>
              <a:t>COP21</a:t>
            </a:r>
            <a:r>
              <a:rPr lang="zh-CN" altLang="zh-CN" dirty="0"/>
              <a:t>气候大会</a:t>
            </a:r>
            <a:r>
              <a:rPr lang="en-US" altLang="zh-CN" dirty="0"/>
              <a:t>: 6645 </a:t>
            </a:r>
            <a:r>
              <a:rPr lang="zh-CN" altLang="zh-CN" dirty="0"/>
              <a:t>条</a:t>
            </a:r>
            <a:r>
              <a:rPr lang="en-US" altLang="zh-CN" dirty="0"/>
              <a:t> (0.28%)</a:t>
            </a:r>
          </a:p>
          <a:p>
            <a:endParaRPr lang="zh-CN" altLang="zh-CN" dirty="0"/>
          </a:p>
          <a:p>
            <a:r>
              <a:rPr lang="zh-CN" altLang="zh-CN" dirty="0"/>
              <a:t>万圣节</a:t>
            </a:r>
            <a:r>
              <a:rPr lang="en-US" altLang="zh-CN" dirty="0"/>
              <a:t>/</a:t>
            </a:r>
            <a:r>
              <a:rPr lang="zh-CN" altLang="zh-CN" dirty="0"/>
              <a:t>诸圣节</a:t>
            </a:r>
            <a:r>
              <a:rPr lang="en-US" altLang="zh-CN" dirty="0"/>
              <a:t>: 401 </a:t>
            </a:r>
            <a:r>
              <a:rPr lang="zh-CN" altLang="zh-CN" dirty="0"/>
              <a:t>条</a:t>
            </a:r>
            <a:r>
              <a:rPr lang="en-US" altLang="zh-CN" dirty="0"/>
              <a:t> (0.02%)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8936507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23C62-0A75-D19E-A542-721DB251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75399F08-095A-3495-B032-3037B4CBE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410C531-74AC-96C8-A345-AA5B54333F6A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64245D0-99BD-9E60-3DC9-563439B2F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61EC44E-B38E-BF71-222A-9BFBD45F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737835A-A35C-A6C5-3654-9A3DE2567937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FA9F85-5470-EBFC-4FC7-7639D46D136D}"/>
              </a:ext>
            </a:extLst>
          </p:cNvPr>
          <p:cNvSpPr txBox="1"/>
          <p:nvPr/>
        </p:nvSpPr>
        <p:spPr>
          <a:xfrm>
            <a:off x="1122680" y="1694913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流量和舆论波动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31299AC-A078-76E3-1BB0-C5C9F015E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70" y="2373092"/>
            <a:ext cx="6874578" cy="29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D112916-66AA-0D92-AD0E-C2C434D3FEE6}"/>
              </a:ext>
            </a:extLst>
          </p:cNvPr>
          <p:cNvSpPr txBox="1"/>
          <p:nvPr/>
        </p:nvSpPr>
        <p:spPr>
          <a:xfrm>
            <a:off x="7677977" y="2136338"/>
            <a:ext cx="33894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重大舆论事件的四个阶段：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zh-CN" dirty="0"/>
              <a:t>产生期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高潮期</a:t>
            </a:r>
            <a:r>
              <a:rPr lang="zh-CN" altLang="en-US" dirty="0"/>
              <a:t>（爆炸式指数级增长）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扩散期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衰退期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50064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75AA8-E580-D600-DCC0-2DBA91E48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8B9C4A7F-EF04-BC48-9644-29FBA3C90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7B624BF-ED79-EF11-DF78-EECA6C30C5F6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4ADD8868-CBF7-F74E-D0B8-7A347FBB6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C795BC96-68E5-DE25-8CFE-5D39558D1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74BD59E-5246-751C-B68C-6224144FE392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9A60BB-6CEF-3031-3E03-AE11CC9FBA4C}"/>
              </a:ext>
            </a:extLst>
          </p:cNvPr>
          <p:cNvSpPr txBox="1"/>
          <p:nvPr/>
        </p:nvSpPr>
        <p:spPr>
          <a:xfrm>
            <a:off x="1122680" y="1694913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用户与社群（谁获得了流量？）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301E11-E4D3-3905-9929-C1AF97457898}"/>
              </a:ext>
            </a:extLst>
          </p:cNvPr>
          <p:cNvSpPr txBox="1"/>
          <p:nvPr/>
        </p:nvSpPr>
        <p:spPr>
          <a:xfrm>
            <a:off x="6629400" y="2536330"/>
            <a:ext cx="3135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普通用户 </a:t>
            </a:r>
            <a:r>
              <a:rPr lang="en-US" altLang="zh-CN" dirty="0"/>
              <a:t>vs </a:t>
            </a:r>
            <a:r>
              <a:rPr lang="zh-CN" altLang="en-US" dirty="0"/>
              <a:t>高粉丝数用户的用户画像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90DCD4-1B6C-018A-6F47-5541C5DAC22E}"/>
              </a:ext>
            </a:extLst>
          </p:cNvPr>
          <p:cNvSpPr txBox="1"/>
          <p:nvPr/>
        </p:nvSpPr>
        <p:spPr>
          <a:xfrm>
            <a:off x="6635151" y="3503544"/>
            <a:ext cx="547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高粉丝数用户的推文具有更高的重大事件关联度和社群话题关联度，因而具有更高的活跃度和社群影响力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7224DF-BD39-DBAE-FF1D-55DE9CE3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6" r="10658"/>
          <a:stretch>
            <a:fillRect/>
          </a:stretch>
        </p:blipFill>
        <p:spPr bwMode="auto">
          <a:xfrm>
            <a:off x="543201" y="2143053"/>
            <a:ext cx="5734866" cy="3912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13429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67898-945A-9305-9841-4F7BEE38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507C370C-6953-37D3-456F-21D9202B5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B7939E2-1069-2264-711F-3619DACB762E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8853BD45-009D-E3B5-C7C9-B0586B803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C71C35F-5E79-C9BD-32FA-743EA7239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977E034-ACFF-9A37-0D19-EE041537E853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6DB3F0-7BCC-67CE-1670-A91526A46CC1}"/>
              </a:ext>
            </a:extLst>
          </p:cNvPr>
          <p:cNvSpPr txBox="1"/>
          <p:nvPr/>
        </p:nvSpPr>
        <p:spPr>
          <a:xfrm>
            <a:off x="899050" y="1386066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用户与社群（流量怎么在社群中传播？）</a:t>
            </a:r>
          </a:p>
        </p:txBody>
      </p:sp>
      <p:pic>
        <p:nvPicPr>
          <p:cNvPr id="11" name="图片 10" descr="卡通人物&#10;&#10;AI 生成的内容可能不正确。">
            <a:extLst>
              <a:ext uri="{FF2B5EF4-FFF2-40B4-BE49-F238E27FC236}">
                <a16:creationId xmlns:a16="http://schemas.microsoft.com/office/drawing/2014/main" id="{0426FCC3-DBEF-D576-A80F-BB9A5EDEE2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60" y="1777764"/>
            <a:ext cx="5517048" cy="3078197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657166D4-CD1F-7214-FF07-ACA1FAE057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0" y="1858540"/>
            <a:ext cx="5372273" cy="29974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5E483D3-58BA-F979-30DB-C908F20FDB70}"/>
              </a:ext>
            </a:extLst>
          </p:cNvPr>
          <p:cNvSpPr txBox="1"/>
          <p:nvPr/>
        </p:nvSpPr>
        <p:spPr>
          <a:xfrm>
            <a:off x="271870" y="4782976"/>
            <a:ext cx="708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意见领袖（高影响力、高活跃度）的出现和对流量的带动作用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7F4C53-D9B2-D991-3B46-C6CAFEFE4D67}"/>
              </a:ext>
            </a:extLst>
          </p:cNvPr>
          <p:cNvSpPr txBox="1"/>
          <p:nvPr/>
        </p:nvSpPr>
        <p:spPr>
          <a:xfrm>
            <a:off x="5872370" y="1386066"/>
            <a:ext cx="5708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回复网络密度、高影响力者数量均有显著不同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0D64F5-D7CF-B957-39E7-CE1A369332C5}"/>
              </a:ext>
            </a:extLst>
          </p:cNvPr>
          <p:cNvSpPr txBox="1"/>
          <p:nvPr/>
        </p:nvSpPr>
        <p:spPr>
          <a:xfrm>
            <a:off x="271870" y="5220323"/>
            <a:ext cx="10327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有趣的是，两张图中都出现了大的红点，分别是是用户</a:t>
            </a:r>
            <a:r>
              <a:rPr lang="en-US" altLang="zh-CN" dirty="0"/>
              <a:t>@El_Universal_Mx</a:t>
            </a:r>
            <a:r>
              <a:rPr lang="zh-CN" altLang="en-US" dirty="0"/>
              <a:t>和</a:t>
            </a:r>
            <a:r>
              <a:rPr lang="en-US" altLang="zh-CN" dirty="0"/>
              <a:t>@ParisMatch</a:t>
            </a:r>
          </a:p>
          <a:p>
            <a:r>
              <a:rPr lang="zh-CN" altLang="en-US" dirty="0"/>
              <a:t>前者</a:t>
            </a:r>
            <a:r>
              <a:rPr lang="zh-CN" altLang="zh-CN" dirty="0"/>
              <a:t>是一家墨西哥的著名新闻媒体，</a:t>
            </a:r>
            <a:r>
              <a:rPr lang="zh-CN" altLang="en-US" dirty="0"/>
              <a:t>后者是巴黎的时政新闻媒体，是法国的媒体行业龙头和标杆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60466E-9443-8B68-B9C8-B1280A9811E4}"/>
              </a:ext>
            </a:extLst>
          </p:cNvPr>
          <p:cNvSpPr txBox="1"/>
          <p:nvPr/>
        </p:nvSpPr>
        <p:spPr>
          <a:xfrm>
            <a:off x="271870" y="6033052"/>
            <a:ext cx="7603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而媒体正是意见领袖的代表者之一，他们发帖的数量和及时性都远超常人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59918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3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11A7C-7024-8BDC-8016-5A0EF95E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6DFD4802-F738-68CC-1E8B-C974257C8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7AE1458-005E-3D19-FAB0-FC8D13CD8FD0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D8F16CB-5772-807D-95FA-906C2DDD9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9EF4A897-3636-FB3E-7142-D8D6FA312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9AA263A-39BB-7C05-D87F-E415FCC26E65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7727FF-4B7C-28D3-7DE9-3A9D23210ADF}"/>
              </a:ext>
            </a:extLst>
          </p:cNvPr>
          <p:cNvSpPr txBox="1"/>
          <p:nvPr/>
        </p:nvSpPr>
        <p:spPr>
          <a:xfrm>
            <a:off x="192627" y="1487101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构建流量预测和舆论预警模型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AE9BD4-3281-D0B4-5190-C28C387AFCAF}"/>
              </a:ext>
            </a:extLst>
          </p:cNvPr>
          <p:cNvSpPr txBox="1"/>
          <p:nvPr/>
        </p:nvSpPr>
        <p:spPr>
          <a:xfrm>
            <a:off x="271869" y="5078546"/>
            <a:ext cx="945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情绪指数和发帖量异常波动而超出流量阈值（图中红色虚线）时，可以认为发生了重大事件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2CDB22-F13C-4E4F-CE13-A8E477C669E5}"/>
              </a:ext>
            </a:extLst>
          </p:cNvPr>
          <p:cNvSpPr txBox="1"/>
          <p:nvPr/>
        </p:nvSpPr>
        <p:spPr>
          <a:xfrm>
            <a:off x="287779" y="5690367"/>
            <a:ext cx="932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因此，可以通过网络社交媒体平台的监测来早一步地治理舆情（存在</a:t>
            </a:r>
            <a:r>
              <a:rPr lang="en-US" altLang="zh-CN" dirty="0"/>
              <a:t>1-2</a:t>
            </a:r>
            <a:r>
              <a:rPr lang="zh-CN" altLang="en-US" dirty="0"/>
              <a:t>天的缓冲期）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01AC2C2-0132-74A4-8B00-BFBFF1B0F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80" b="49271"/>
          <a:stretch>
            <a:fillRect/>
          </a:stretch>
        </p:blipFill>
        <p:spPr bwMode="auto">
          <a:xfrm>
            <a:off x="192627" y="2153632"/>
            <a:ext cx="5114675" cy="2870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44949C-913A-9152-D67A-D7BDCE5E906D}"/>
              </a:ext>
            </a:extLst>
          </p:cNvPr>
          <p:cNvSpPr txBox="1"/>
          <p:nvPr/>
        </p:nvSpPr>
        <p:spPr>
          <a:xfrm>
            <a:off x="271869" y="6302188"/>
            <a:ext cx="6504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而流量波动是更为广泛、更为日常的监管方式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60ADADD6-47E7-8FC7-CF28-1413C754E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5" b="51930"/>
          <a:stretch>
            <a:fillRect/>
          </a:stretch>
        </p:blipFill>
        <p:spPr bwMode="auto">
          <a:xfrm>
            <a:off x="5685699" y="2119651"/>
            <a:ext cx="5014922" cy="2672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A96F6F3-8A14-CB87-5F56-B1CEE3A0E822}"/>
              </a:ext>
            </a:extLst>
          </p:cNvPr>
          <p:cNvSpPr txBox="1"/>
          <p:nvPr/>
        </p:nvSpPr>
        <p:spPr>
          <a:xfrm>
            <a:off x="3577978" y="1101941"/>
            <a:ext cx="8744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在舆论预警模型（消极事件）中</a:t>
            </a:r>
            <a:endParaRPr lang="en-US" altLang="zh-CN" dirty="0"/>
          </a:p>
          <a:p>
            <a:r>
              <a:rPr lang="zh-CN" altLang="zh-CN" dirty="0"/>
              <a:t>整个网络平台的情绪指数下降了</a:t>
            </a:r>
            <a:r>
              <a:rPr lang="en-US" altLang="zh-CN" dirty="0"/>
              <a:t>1.93%</a:t>
            </a:r>
            <a:r>
              <a:rPr lang="zh-CN" altLang="zh-CN" dirty="0"/>
              <a:t>，与重大事件关联程度更是直线飙升了</a:t>
            </a:r>
            <a:r>
              <a:rPr lang="en-US" altLang="zh-CN" dirty="0"/>
              <a:t>3.93%</a:t>
            </a:r>
            <a:r>
              <a:rPr lang="zh-CN" altLang="zh-CN" dirty="0"/>
              <a:t>这对于整个网络空间来说属于非常巨大的变动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785843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9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F7C86-6537-7111-24E9-D0746398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">
            <a:extLst>
              <a:ext uri="{FF2B5EF4-FFF2-40B4-BE49-F238E27FC236}">
                <a16:creationId xmlns:a16="http://schemas.microsoft.com/office/drawing/2014/main" id="{AA0821F6-4677-E866-761C-3208EB2CA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D3BC01C-14F3-3393-292E-565FDE5F1862}"/>
              </a:ext>
            </a:extLst>
          </p:cNvPr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10127AB-797B-4AE7-41A3-4C535A1A0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7E3D798D-E259-0585-0CCA-6639B83FB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C19B5DC-C941-A779-CC38-28B9D3ABF095}"/>
              </a:ext>
            </a:extLst>
          </p:cNvPr>
          <p:cNvSpPr txBox="1"/>
          <p:nvPr/>
        </p:nvSpPr>
        <p:spPr>
          <a:xfrm>
            <a:off x="271870" y="678180"/>
            <a:ext cx="541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三、研究结果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9BE15C7-606B-4153-4FF1-7915F145360E}"/>
              </a:ext>
            </a:extLst>
          </p:cNvPr>
          <p:cNvSpPr txBox="1"/>
          <p:nvPr/>
        </p:nvSpPr>
        <p:spPr>
          <a:xfrm>
            <a:off x="1004327" y="1693203"/>
            <a:ext cx="9946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马克思：“人是一切社会关系的总和。”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DD1612-2D2E-BDC8-F127-D676B69A61DB}"/>
              </a:ext>
            </a:extLst>
          </p:cNvPr>
          <p:cNvSpPr txBox="1"/>
          <p:nvPr/>
        </p:nvSpPr>
        <p:spPr>
          <a:xfrm>
            <a:off x="1004327" y="2471099"/>
            <a:ext cx="9453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事物是普遍联系和永恒发展的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用联系观、发展观看问题，才能看得深、看得远，才能发现事物的本质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E61C6-0040-9F96-3998-C1B694AF660D}"/>
              </a:ext>
            </a:extLst>
          </p:cNvPr>
          <p:cNvSpPr txBox="1"/>
          <p:nvPr/>
        </p:nvSpPr>
        <p:spPr>
          <a:xfrm>
            <a:off x="1004327" y="3893388"/>
            <a:ext cx="10183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流量的背后是人，只有用这样的眼光来看待网络社会和现实社会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才能正确揭示背后的奥秘和社会的本质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EAD09B-C55A-F154-40C8-8A90F2DFA16B}"/>
              </a:ext>
            </a:extLst>
          </p:cNvPr>
          <p:cNvSpPr txBox="1"/>
          <p:nvPr/>
        </p:nvSpPr>
        <p:spPr>
          <a:xfrm>
            <a:off x="1004327" y="5225282"/>
            <a:ext cx="6137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但是，仅用网络数据还无法推断出社会事件的全貌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可能受到推流算法、政府干预等影响</a:t>
            </a:r>
          </a:p>
        </p:txBody>
      </p:sp>
    </p:spTree>
    <p:extLst>
      <p:ext uri="{BB962C8B-B14F-4D97-AF65-F5344CB8AC3E}">
        <p14:creationId xmlns:p14="http://schemas.microsoft.com/office/powerpoint/2010/main" val="15984829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13485" y="2362835"/>
            <a:ext cx="102228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pc="1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谢谢！</a:t>
            </a:r>
            <a:endParaRPr lang="zh-CN" altLang="en-US" sz="3600" spc="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39595" y="3079115"/>
            <a:ext cx="9217025" cy="11430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2854325" y="4200525"/>
            <a:ext cx="24892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400"/>
          </a:p>
        </p:txBody>
      </p:sp>
      <p:grpSp>
        <p:nvGrpSpPr>
          <p:cNvPr id="10" name="组合 9"/>
          <p:cNvGrpSpPr/>
          <p:nvPr/>
        </p:nvGrpSpPr>
        <p:grpSpPr>
          <a:xfrm flipH="1">
            <a:off x="-36517" y="1"/>
            <a:ext cx="12228515" cy="6857998"/>
            <a:chOff x="-36516" y="1"/>
            <a:chExt cx="12228515" cy="6857998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7291456" y="1"/>
              <a:ext cx="4900543" cy="1356359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-36516" y="4344961"/>
              <a:ext cx="5167818" cy="2513038"/>
            </a:xfrm>
            <a:prstGeom prst="rect">
              <a:avLst/>
            </a:prstGeom>
          </p:spPr>
        </p:pic>
      </p:grpSp>
      <p:pic>
        <p:nvPicPr>
          <p:cNvPr id="3" name="图片 2" descr="卡通人物&#10;&#10;AI 生成的内容可能不正确。">
            <a:extLst>
              <a:ext uri="{FF2B5EF4-FFF2-40B4-BE49-F238E27FC236}">
                <a16:creationId xmlns:a16="http://schemas.microsoft.com/office/drawing/2014/main" id="{BA629DC9-2844-5563-697A-5FC4AB9FD7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2060"/>
            <a:ext cx="2608361" cy="229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YyYzI2NmYyMzczZGYwNTg3ZWE2MTM3ZTEyNWY2OWIifQ=="/>
  <p:tag name="KSO_WPP_MARK_KEY" val="472c49d4-4ec4-4954-b636-e66a82869ff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3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5016</TotalTime>
  <Words>1025</Words>
  <Application>Microsoft Office PowerPoint</Application>
  <PresentationFormat>宽屏</PresentationFormat>
  <Paragraphs>124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黑体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Junyu Shi</cp:lastModifiedBy>
  <cp:revision>583</cp:revision>
  <dcterms:created xsi:type="dcterms:W3CDTF">2019-06-19T02:08:00Z</dcterms:created>
  <dcterms:modified xsi:type="dcterms:W3CDTF">2026-01-05T01:57:32Z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690C315C1A224599A131BB04836AB59E_13</vt:lpwstr>
  </property>
</Properties>
</file>